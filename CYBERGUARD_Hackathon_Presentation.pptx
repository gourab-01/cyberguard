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CYBERGUARD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</a:defRPr>
            </a:pPr>
            <a:r>
              <a:t>AI-Powered Threat, Phishing &amp; Impersonation Detection System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Domain: Cybersecurity + Artificial Intelligence</a:t>
            </a:r>
            <a:br/>
            <a:r>
              <a:t>Presenter : Sarojini Patra &amp; Team</a:t>
            </a:r>
            <a:br/>
            <a:r>
              <a:t>Institution: Suddhananda Engineering &amp; Research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CYBERGUARD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Problem Statement &amp; Cybersecurity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D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The Evolving Cyber Threat Landscape</a:t>
            </a:r>
          </a:p>
          <a:p>
            <a:pPr>
              <a:spcAft>
                <a:spcPts val="1000"/>
              </a:spcAft>
              <a:defRPr sz="1300">
                <a:solidFill>
                  <a:srgbClr val="F3F4F6"/>
                </a:solidFill>
              </a:defRPr>
            </a:pPr>
            <a:r>
              <a:t>• Rapid adoption of digital payments, cloud services, and e-governance has expanded the attack surface.</a:t>
            </a:r>
          </a:p>
          <a:p>
            <a:pPr>
              <a:spcAft>
                <a:spcPts val="1000"/>
              </a:spcAft>
              <a:defRPr sz="1300">
                <a:solidFill>
                  <a:srgbClr val="F3F4F6"/>
                </a:solidFill>
              </a:defRPr>
            </a:pPr>
            <a:r>
              <a:t>• Attackers utilize Generative AI for phishing emails, fake websites, cloned voices, and deepfake media.</a:t>
            </a:r>
          </a:p>
          <a:p>
            <a:pPr>
              <a:spcAft>
                <a:spcPts val="1000"/>
              </a:spcAft>
              <a:defRPr sz="1300">
                <a:solidFill>
                  <a:srgbClr val="F3F4F6"/>
                </a:solidFill>
              </a:defRPr>
            </a:pPr>
            <a:r>
              <a:t>• Human-targeted social engineering bypasses legacy technical firewalls.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Why Rule-Based Systems Fail</a:t>
            </a:r>
          </a:p>
          <a:p>
            <a:pPr>
              <a:spcAft>
                <a:spcPts val="1000"/>
              </a:spcAft>
              <a:defRPr sz="1300">
                <a:solidFill>
                  <a:srgbClr val="F3F4F6"/>
                </a:solidFill>
              </a:defRPr>
            </a:pPr>
            <a:r>
              <a:t>• Traditional security rules miss zero-day AI threats and dynamic URL structures.</a:t>
            </a:r>
          </a:p>
          <a:p>
            <a:pPr>
              <a:spcAft>
                <a:spcPts val="1000"/>
              </a:spcAft>
              <a:defRPr sz="1300">
                <a:solidFill>
                  <a:srgbClr val="F3F4F6"/>
                </a:solidFill>
              </a:defRPr>
            </a:pPr>
            <a:r>
              <a:t>• Lack of Explainable AI (XAI) leaves security analysts without key decision rationale.</a:t>
            </a:r>
          </a:p>
          <a:p>
            <a:pPr>
              <a:spcAft>
                <a:spcPts val="1000"/>
              </a:spcAft>
              <a:defRPr sz="1300">
                <a:solidFill>
                  <a:srgbClr val="F3F4F6"/>
                </a:solidFill>
              </a:defRPr>
            </a:pPr>
            <a:r>
              <a:t>• CYBERGUARD Solution: An end-to-end AI platform delivering real-time threat detection, risk scoring, and automated mitigation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CYBERGUARD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Core Threat Modules &amp;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1. Phishing &amp; URL Detection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Scans emails, SMS, and links for domain spoofing, urgency keywords, raw IP patterns, and high-risk TLDs.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A1D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2. Call &amp; Digital Impersonation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Checks caller IDs against blacklists, 140-series telemarketer patterns, and transcript fraud triggers.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Account Takeover (ATO)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Detects brute-force login sequences, abnormal geographic locations, and unrecognized device signatures.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A1D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4. Multimodal Deepfakes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Inspects images and audio files for missing EXIF metadata, sample rate anomalies, and voice cloning signatures.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CYBERGUARD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System Architecture &amp;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3F4F6"/>
                </a:solidFill>
              </a:defRPr>
            </a:pPr>
            <a:r>
              <a:t>1. Multi-Source Ingestion</a:t>
            </a:r>
            <a:br/>
            <a:r>
              <a:t>(Text, URLs, Calls, Audio, Images)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64592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3F4F6"/>
                </a:solidFill>
              </a:defRPr>
            </a:pPr>
            <a:r>
              <a:t>2. AI Detection Engine</a:t>
            </a:r>
            <a:br/>
            <a:r>
              <a:t>(Regex, Heuristics, Metadata Analysis)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164592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3F4F6"/>
                </a:solidFill>
              </a:defRPr>
            </a:pPr>
            <a:r>
              <a:t>3. Risk Scoring Engine</a:t>
            </a:r>
            <a:br/>
            <a:r>
              <a:t>(Capped 0-100 Score &amp; Severity Mapping)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164592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3F4F6"/>
                </a:solidFill>
              </a:defRPr>
            </a:pPr>
            <a:r>
              <a:t>4. Explainable AI &amp; Action</a:t>
            </a:r>
            <a:br/>
            <a:r>
              <a:t>(Reasoning Generation + Automated Response)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2377440"/>
          </a:xfrm>
          <a:prstGeom prst="roundRect">
            <a:avLst/>
          </a:prstGeom>
          <a:solidFill>
            <a:srgbClr val="1A1D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Technology Stack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Backend &amp; Processing: Python 3, Flask, SQLite3, Mutagen (Audio Metadata), Pillow (Image EXIF Processing)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Frontend &amp; Dashboard: HTML5, CSS3 (SOC Dark Theme), JavaScript, Chart.js for real-time analytics</a:t>
            </a:r>
          </a:p>
          <a:p>
            <a:pPr>
              <a:spcAft>
                <a:spcPts val="800"/>
              </a:spcAft>
              <a:defRPr sz="1300">
                <a:solidFill>
                  <a:srgbClr val="F3F4F6"/>
                </a:solidFill>
              </a:defRPr>
            </a:pPr>
            <a:r>
              <a:t>• Security Implementation: Werkzeug password hashing, session revocation, local timezone conversion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CYBERGUARD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Threat Risk Scoring &amp; Explainable AI (XAI)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Transparent Risk Categorization</a:t>
            </a:r>
          </a:p>
          <a:p>
            <a:pPr>
              <a:spcAft>
                <a:spcPts val="1200"/>
              </a:spcAft>
              <a:defRPr b="0" sz="1400">
                <a:solidFill>
                  <a:srgbClr val="F3F4F6"/>
                </a:solidFill>
              </a:defRPr>
            </a:pPr>
            <a:r>
              <a:t>Risk Scale: Safe (0-19) -&gt; Medium (20-39) -&gt; High (40-69) -&gt; Critical (70-100)</a:t>
            </a:r>
          </a:p>
          <a:p>
            <a:pPr>
              <a:spcAft>
                <a:spcPts val="1200"/>
              </a:spcAft>
              <a:defRPr b="0" sz="1400">
                <a:solidFill>
                  <a:srgbClr val="F3F4F6"/>
                </a:solidFill>
              </a:defRPr>
            </a:pPr>
            <a:r>
              <a:t>XAI Philosophy: Instead of opaque output like 'Threat Detected', CYBERGUARD generates detailed human-readable evidence detailing exact risk factors.</a:t>
            </a:r>
          </a:p>
          <a:p>
            <a:pPr>
              <a:spcAft>
                <a:spcPts val="1200"/>
              </a:spcAft>
              <a:defRPr b="0" sz="1400">
                <a:solidFill>
                  <a:srgbClr val="F3F4F6"/>
                </a:solidFill>
              </a:defRPr>
            </a:pPr>
            <a:r>
              <a:t>Phishing XAI Example: Critical Risk | Contains high-pressure urgency language ('verify now') and embedded URL redirects using raw IP addresses.</a:t>
            </a:r>
          </a:p>
          <a:p>
            <a:pPr>
              <a:spcAft>
                <a:spcPts val="1200"/>
              </a:spcAft>
              <a:defRPr b="0" sz="1400">
                <a:solidFill>
                  <a:srgbClr val="F3F4F6"/>
                </a:solidFill>
              </a:defRPr>
            </a:pPr>
            <a:r>
              <a:t>Voice Clone XAI Example: Critical Risk | Audio sample rate (16,000 Hz) and single-channel signature match standard AI speech synthesis engines.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CYBERGUARD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Automated Mitigation &amp; Incident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A1D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Actionable Playbooks by Threat Level</a:t>
            </a:r>
          </a:p>
          <a:p>
            <a:pPr>
              <a:spcAft>
                <a:spcPts val="1400"/>
              </a:spcAft>
              <a:defRPr b="0" sz="1400">
                <a:solidFill>
                  <a:srgbClr val="F3F4F6"/>
                </a:solidFill>
              </a:defRPr>
            </a:pPr>
            <a:r>
              <a:t>• Phishing &amp; Malicious URLs: Quarantine email message, block embedded domain links, display warning banner, and notify SOC.</a:t>
            </a:r>
          </a:p>
          <a:p>
            <a:pPr>
              <a:spcAft>
                <a:spcPts val="1400"/>
              </a:spcAft>
              <a:defRPr b="0" sz="1400">
                <a:solidFill>
                  <a:srgbClr val="F3F4F6"/>
                </a:solidFill>
              </a:defRPr>
            </a:pPr>
            <a:r>
              <a:t>• Vishing &amp; Call Fraud: Block incoming caller ID immediately, restrict audio source trust, and trigger automated fraud alert.</a:t>
            </a:r>
          </a:p>
          <a:p>
            <a:pPr>
              <a:spcAft>
                <a:spcPts val="1400"/>
              </a:spcAft>
              <a:defRPr b="0" sz="1400">
                <a:solidFill>
                  <a:srgbClr val="F3F4F6"/>
                </a:solidFill>
              </a:defRPr>
            </a:pPr>
            <a:r>
              <a:t>• Account Takeover Anomaly: Revoke active login session, temporarily lock account, and mandate Multi-Factor Authentication (MFA).</a:t>
            </a:r>
          </a:p>
          <a:p>
            <a:pPr>
              <a:spcAft>
                <a:spcPts val="1400"/>
              </a:spcAft>
              <a:defRPr b="0" sz="1400">
                <a:solidFill>
                  <a:srgbClr val="F3F4F6"/>
                </a:solidFill>
              </a:defRPr>
            </a:pPr>
            <a:r>
              <a:t>• Multimedia Deepfakes: Apply digital authenticity warning watermark, restrict playback, and flag for manual analyst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CYBERGUARD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Cybersecurity Command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Real-Time SOC Analytics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Event Counters: Tracks Total Scans, High/Critical Threat counts in real time.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Interactive Visualizations: Chart.js bar graphs dynamically display threat distribution across Phishing, Calls, ATO, Images, and Audio.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Local Timezone Auditing: Auto-converts SQLite UTC timestamps to local system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A1D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Live Audit Trail &amp; History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Timestamped Incident Log: Maintains a historical record of all evaluated events.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Severity Badges: Visually differentiates Safe, Medium, High, and Critical risk events.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• Full Transparency: Displays input payloads alongside generated XAI explanations and mitigation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CYBERGUARD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Live Demonstration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Demonstration Steps for Judges</a:t>
            </a:r>
          </a:p>
          <a:p>
            <a:pPr>
              <a:spcAft>
                <a:spcPts val="1000"/>
              </a:spcAft>
              <a:defRPr b="0" sz="1300">
                <a:solidFill>
                  <a:srgbClr val="F3F4F6"/>
                </a:solidFill>
              </a:defRPr>
            </a:pPr>
            <a:r>
              <a:t>Step 1: Phishing Module: Input 'URGENT: Your account access is suspended. Verify now at http://login-secure.xyz' -&gt; Show risk score &amp; XAI reasoning.</a:t>
            </a:r>
          </a:p>
          <a:p>
            <a:pPr>
              <a:spcAft>
                <a:spcPts val="1000"/>
              </a:spcAft>
              <a:defRPr b="0" sz="1300">
                <a:solidFill>
                  <a:srgbClr val="F3F4F6"/>
                </a:solidFill>
              </a:defRPr>
            </a:pPr>
            <a:r>
              <a:t>Step 2: Call Impersonation: Input '+919876543210' with OTP transcript -&gt; Show vishing alert.</a:t>
            </a:r>
          </a:p>
          <a:p>
            <a:pPr>
              <a:spcAft>
                <a:spcPts val="1000"/>
              </a:spcAft>
              <a:defRPr b="0" sz="1300">
                <a:solidFill>
                  <a:srgbClr val="F3F4F6"/>
                </a:solidFill>
              </a:defRPr>
            </a:pPr>
            <a:r>
              <a:t>Step 3: Account Takeover: Set 6 failed attempts + unusual location -&gt; Show automated session revocation trigger.</a:t>
            </a:r>
          </a:p>
          <a:p>
            <a:pPr>
              <a:spcAft>
                <a:spcPts val="1000"/>
              </a:spcAft>
              <a:defRPr b="0" sz="1300">
                <a:solidFill>
                  <a:srgbClr val="F3F4F6"/>
                </a:solidFill>
              </a:defRPr>
            </a:pPr>
            <a:r>
              <a:t>Step 4: Audio Deepfake: Upload audio voice recording -&gt; Inspect sample rate metadata extraction.</a:t>
            </a:r>
          </a:p>
          <a:p>
            <a:pPr>
              <a:spcAft>
                <a:spcPts val="1000"/>
              </a:spcAft>
              <a:defRPr b="0" sz="1300">
                <a:solidFill>
                  <a:srgbClr val="F3F4F6"/>
                </a:solidFill>
              </a:defRPr>
            </a:pPr>
            <a:r>
              <a:t>Step 5: Command Dashboard: Refresh dashboard to verify live Chart.js update and audit log entries.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CYBERGUARD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3F4F6"/>
                </a:solidFill>
              </a:defRPr>
            </a:pPr>
            <a:r>
              <a:t>Innovation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A1D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Future Scalability Features</a:t>
            </a:r>
          </a:p>
          <a:p>
            <a:pPr>
              <a:spcAft>
                <a:spcPts val="1400"/>
              </a:spcAft>
              <a:defRPr b="0" sz="1400">
                <a:solidFill>
                  <a:srgbClr val="F3F4F6"/>
                </a:solidFill>
              </a:defRPr>
            </a:pPr>
            <a:r>
              <a:t>• MITRE ATT&amp;CK Mapping: Tagging all threat classifications to official technique IDs (e.g., T1566 Phishing, T1110 Brute Force).</a:t>
            </a:r>
          </a:p>
          <a:p>
            <a:pPr>
              <a:spcAft>
                <a:spcPts val="1400"/>
              </a:spcAft>
              <a:defRPr b="0" sz="1400">
                <a:solidFill>
                  <a:srgbClr val="F3F4F6"/>
                </a:solidFill>
              </a:defRPr>
            </a:pPr>
            <a:r>
              <a:t>• Network &amp; API Log Scanner: Expanding threat analysis to raw server logs for DDoS detection and API rate-limit abuse.</a:t>
            </a:r>
          </a:p>
          <a:p>
            <a:pPr>
              <a:spcAft>
                <a:spcPts val="1400"/>
              </a:spcAft>
              <a:defRPr b="0" sz="1400">
                <a:solidFill>
                  <a:srgbClr val="F3F4F6"/>
                </a:solidFill>
              </a:defRPr>
            </a:pPr>
            <a:r>
              <a:t>• One-Click SOC Playbooks: Adding dynamic action triggers on the dashboard (e.g., [Block IP], [Export Audit PDF]).</a:t>
            </a:r>
          </a:p>
          <a:p>
            <a:pPr>
              <a:spcAft>
                <a:spcPts val="1400"/>
              </a:spcAft>
              <a:defRPr b="0" sz="1400">
                <a:solidFill>
                  <a:srgbClr val="F3F4F6"/>
                </a:solidFill>
              </a:defRPr>
            </a:pPr>
            <a:r>
              <a:t>• Privacy-Preserving AI: Integrating federated learning models for secure enterprise and university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A1D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CYBERGUARD</a:t>
            </a:r>
          </a:p>
          <a:p>
            <a:pPr>
              <a:spcAft>
                <a:spcPts val="2000"/>
              </a:spcAft>
              <a:defRPr sz="2000">
                <a:solidFill>
                  <a:srgbClr val="F3F4F6"/>
                </a:solidFill>
              </a:defRPr>
            </a:pPr>
            <a:r>
              <a:t>Intelligent AI Cyber Defence &amp; Digital Trust Platform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Protecting both the Technology Layer and the Human Layer of Cybersecurity.</a:t>
            </a:r>
            <a:br/>
            <a:br/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